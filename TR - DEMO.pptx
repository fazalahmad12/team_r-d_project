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60ABDA-B518-4AA6-8818-6EE3BABB9807}" v="1" dt="2025-11-26T13:25:40.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a:t>
            </a:r>
            <a:r>
              <a:rPr lang="en-GB"/>
              <a:t>make the most of this opportunity to help you pass coursework 2. </a:t>
            </a:r>
            <a:endParaRPr lang="en-GB" dirty="0"/>
          </a:p>
          <a:p>
            <a:endParaRPr lang="en-GB"/>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a:t>
            </a:r>
            <a:r>
              <a:rPr lang="en-GB">
                <a:solidFill>
                  <a:srgbClr val="FF0000"/>
                </a:solidFill>
              </a:rPr>
              <a:t>receive confirmation email about your allocation?</a:t>
            </a:r>
            <a:r>
              <a:rPr lang="en-GB" dirty="0">
                <a:solidFill>
                  <a:srgbClr val="FF0000"/>
                </a:solidFill>
              </a:rPr>
              <a:t> Your group number must be assigned to the dataset you are referencing here.</a:t>
            </a:r>
            <a:endParaRPr lang="en-GB" dirty="0">
              <a:solidFill>
                <a:srgbClr val="FF0000"/>
              </a:solidFill>
              <a:cs typeface="Arial"/>
            </a:endParaRPr>
          </a:p>
          <a:p>
            <a:endParaRPr lang="en-GB">
              <a:solidFill>
                <a:srgbClr val="203232"/>
              </a:solidFill>
              <a:cs typeface="Arial" panose="020B0604020202020204"/>
            </a:endParaRPr>
          </a:p>
          <a:p>
            <a:r>
              <a:rPr lang="en-GB"/>
              <a:t>The next slides give you three alternatives for defining your research question and hypotheses. Select </a:t>
            </a:r>
            <a:r>
              <a:rPr lang="en-GB" dirty="0"/>
              <a:t>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a:t>
            </a:r>
            <a:r>
              <a:rPr lang="en-GB"/>
              <a:t>presenting will miss the opportunity to check a critical part of coursework 2.   Practice presenting on Teams </a:t>
            </a:r>
            <a:r>
              <a:rPr lang="en-GB" dirty="0"/>
              <a:t>first.</a:t>
            </a:r>
            <a:endParaRPr lang="en-GB">
              <a:cs typeface="Arial"/>
            </a:endParaRPr>
          </a:p>
          <a:p>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26-11-2025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890000"/>
            <a:ext cx="10283976" cy="360000"/>
          </a:xfrm>
        </p:spPr>
        <p:txBody>
          <a:bodyPr/>
          <a:lstStyle/>
          <a:p>
            <a:r>
              <a:rPr lang="en-US" sz="2000" dirty="0"/>
              <a:t>Group Name: A133                                                           Name of Student Presenting: Sami Ahmad</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No:A133                    Names of Student Attendees: Ayush Rawat, Fazal, Hashim Sultan, 							               Syed Mustafa, Sami Ahmad </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A133</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9" name="Picture 8" descr="A group of small colored symbols&#10;&#10;AI-generated content may be incorrect.">
            <a:extLst>
              <a:ext uri="{FF2B5EF4-FFF2-40B4-BE49-F238E27FC236}">
                <a16:creationId xmlns:a16="http://schemas.microsoft.com/office/drawing/2014/main" id="{6C936B78-6506-FECC-EF14-6E679A2FB0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077" y="1677419"/>
            <a:ext cx="11833846" cy="1751581"/>
          </a:xfrm>
          <a:prstGeom prst="rect">
            <a:avLst/>
          </a:prstGeom>
        </p:spPr>
      </p:pic>
      <p:sp>
        <p:nvSpPr>
          <p:cNvPr id="12" name="TextBox 11">
            <a:extLst>
              <a:ext uri="{FF2B5EF4-FFF2-40B4-BE49-F238E27FC236}">
                <a16:creationId xmlns:a16="http://schemas.microsoft.com/office/drawing/2014/main" id="{44B8E63D-AC58-4214-7D90-B3848546AA0A}"/>
              </a:ext>
            </a:extLst>
          </p:cNvPr>
          <p:cNvSpPr txBox="1"/>
          <p:nvPr/>
        </p:nvSpPr>
        <p:spPr>
          <a:xfrm>
            <a:off x="1499616" y="3803904"/>
            <a:ext cx="64008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 name of our dataset is </a:t>
            </a:r>
            <a:r>
              <a:rPr lang="en-US" b="1" dirty="0"/>
              <a:t>‘Wimbledon-men-2013.csv’</a:t>
            </a:r>
          </a:p>
          <a:p>
            <a:pPr marL="285750" indent="-285750">
              <a:buFont typeface="Arial" panose="020B0604020202020204" pitchFamily="34" charset="0"/>
              <a:buChar char="•"/>
            </a:pPr>
            <a:r>
              <a:rPr lang="en-US" dirty="0"/>
              <a:t>It has </a:t>
            </a:r>
            <a:r>
              <a:rPr lang="en-US" b="1" dirty="0"/>
              <a:t>114</a:t>
            </a:r>
            <a:r>
              <a:rPr lang="en-US" dirty="0"/>
              <a:t> rows and </a:t>
            </a:r>
            <a:r>
              <a:rPr lang="en-US" b="1" dirty="0"/>
              <a:t>42</a:t>
            </a:r>
            <a:r>
              <a:rPr lang="en-US" dirty="0"/>
              <a:t> columns.</a:t>
            </a:r>
          </a:p>
          <a:p>
            <a:pPr marL="285750" indent="-285750">
              <a:buFont typeface="Arial" panose="020B0604020202020204" pitchFamily="34" charset="0"/>
              <a:buChar char="•"/>
            </a:pPr>
            <a:endParaRPr lang="en-PK" dirty="0"/>
          </a:p>
        </p:txBody>
      </p:sp>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(DS015 – Wimbledon-men-2013.csv)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US" sz="2400" b="0" dirty="0">
                <a:solidFill>
                  <a:srgbClr val="FF0000"/>
                </a:solidFill>
                <a:latin typeface="Calibri"/>
                <a:cs typeface="Calibri"/>
              </a:rPr>
              <a:t>it helps us analyze what part of the game is the biggest contributor in achieving a winning outcome in the sport of tennis and specifically in the Wimbledon arena.</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First serve percentage- represented by  ‘FSP1’ in the dataset</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a:t>
            </a:r>
            <a:r>
              <a:rPr lang="en-US" sz="2400" b="0" dirty="0">
                <a:solidFill>
                  <a:srgbClr val="FF0000"/>
                </a:solidFill>
                <a:latin typeface="Calibri"/>
                <a:cs typeface="Calibri"/>
              </a:rPr>
              <a:t>Ratio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First serve won – represented by ‘FSW1’ in the dataset</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a:t>
            </a:r>
            <a:r>
              <a:rPr lang="en-US" sz="2400" b="0" dirty="0">
                <a:solidFill>
                  <a:srgbClr val="FF0000"/>
                </a:solidFill>
                <a:latin typeface="Calibri"/>
                <a:cs typeface="Calibri"/>
              </a:rPr>
              <a:t>Ratio</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 </a:t>
            </a:r>
            <a:r>
              <a:rPr lang="en-IE" sz="2400" baseline="30000" dirty="0">
                <a:effectLst/>
                <a:latin typeface="Calibri"/>
                <a:ea typeface="Calibri" panose="020F0502020204030204" pitchFamily="34" charset="0"/>
                <a:cs typeface="Times New Roman"/>
              </a:rPr>
              <a:t>1</a:t>
            </a:r>
            <a:r>
              <a:rPr lang="en-IE" sz="2400" dirty="0">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Interval/Ordinal vs Interval/Ordinal: “Is there a correlation between </a:t>
            </a:r>
            <a:r>
              <a:rPr lang="en-IE" sz="2400" b="0" dirty="0">
                <a:solidFill>
                  <a:srgbClr val="0070C0"/>
                </a:solidFill>
                <a:latin typeface="Calibri"/>
                <a:ea typeface="Calibri" panose="020F0502020204030204" pitchFamily="34" charset="0"/>
                <a:cs typeface="Times New Roman"/>
              </a:rPr>
              <a:t> first serve percentage in the Wimbledon Men’s Tournament  2013  </a:t>
            </a:r>
            <a:r>
              <a:rPr lang="en-IE" sz="2400" b="0" dirty="0">
                <a:latin typeface="Calibri"/>
                <a:ea typeface="Calibri" panose="020F0502020204030204" pitchFamily="34" charset="0"/>
                <a:cs typeface="Times New Roman"/>
              </a:rPr>
              <a:t>and</a:t>
            </a:r>
            <a:r>
              <a:rPr lang="en-IE" sz="2400" b="0" dirty="0">
                <a:solidFill>
                  <a:srgbClr val="0070C0"/>
                </a:solidFill>
                <a:effectLst/>
                <a:latin typeface="Calibri"/>
                <a:ea typeface="Calibri" panose="020F0502020204030204" pitchFamily="34" charset="0"/>
                <a:cs typeface="Times New Roman"/>
              </a:rPr>
              <a:t>  the number of first</a:t>
            </a:r>
            <a:r>
              <a:rPr lang="en-IE" sz="2400" b="0" dirty="0">
                <a:solidFill>
                  <a:srgbClr val="0070C0"/>
                </a:solidFill>
                <a:latin typeface="Calibri"/>
                <a:ea typeface="Calibri" panose="020F0502020204030204" pitchFamily="34" charset="0"/>
                <a:cs typeface="Times New Roman"/>
              </a:rPr>
              <a:t> </a:t>
            </a:r>
            <a:r>
              <a:rPr lang="en-IE" sz="2400" b="0" dirty="0">
                <a:solidFill>
                  <a:srgbClr val="0070C0"/>
                </a:solidFill>
                <a:effectLst/>
                <a:latin typeface="Calibri"/>
                <a:ea typeface="Calibri" panose="020F0502020204030204" pitchFamily="34" charset="0"/>
                <a:cs typeface="Times New Roman"/>
              </a:rPr>
              <a:t>serve points</a:t>
            </a:r>
            <a:r>
              <a:rPr lang="en-IE" sz="2400" b="0" dirty="0">
                <a:solidFill>
                  <a:srgbClr val="0070C0"/>
                </a:solidFill>
                <a:latin typeface="Calibri"/>
                <a:ea typeface="Calibri" panose="020F0502020204030204" pitchFamily="34" charset="0"/>
                <a:cs typeface="Times New Roman"/>
              </a:rPr>
              <a:t> won by players in their respective matches</a:t>
            </a:r>
            <a:r>
              <a:rPr lang="en-IE" sz="2400" b="0" dirty="0">
                <a:latin typeface="Calibri"/>
                <a:ea typeface="Calibri" panose="020F0502020204030204" pitchFamily="34" charset="0"/>
                <a:cs typeface="Times New Roman"/>
              </a:rPr>
              <a:t>?</a:t>
            </a:r>
            <a:r>
              <a:rPr lang="en-IE" sz="2400" b="0" dirty="0">
                <a:effectLst/>
                <a:latin typeface="Calibri"/>
                <a:ea typeface="Calibri" panose="020F0502020204030204" pitchFamily="34" charset="0"/>
                <a:cs typeface="Times New Roman"/>
              </a:rPr>
              <a:t> </a:t>
            </a:r>
            <a:br>
              <a:rPr lang="en-IE" sz="2400" b="0" dirty="0">
                <a:effectLst/>
                <a:latin typeface="Calibri"/>
                <a:ea typeface="Calibri" panose="020F0502020204030204" pitchFamily="34" charset="0"/>
                <a:cs typeface="Times New Roman"/>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endParaRPr lang="en-GB" sz="2000" b="0" dirty="0">
              <a:solidFill>
                <a:schemeClr val="tx1"/>
              </a:solidFill>
              <a:latin typeface="Arial"/>
              <a:cs typeface="Arial"/>
            </a:endParaRPr>
          </a:p>
          <a:p>
            <a:pPr>
              <a:lnSpc>
                <a:spcPct val="100000"/>
              </a:lnSpc>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There is </a:t>
            </a:r>
            <a:r>
              <a:rPr lang="en-GB" sz="2000" dirty="0">
                <a:solidFill>
                  <a:srgbClr val="FF0000"/>
                </a:solidFill>
                <a:latin typeface="Arial"/>
                <a:cs typeface="Arial"/>
              </a:rPr>
              <a:t>no</a:t>
            </a:r>
            <a:r>
              <a:rPr lang="en-GB" sz="2000" b="0" dirty="0">
                <a:solidFill>
                  <a:srgbClr val="FF0000"/>
                </a:solidFill>
                <a:latin typeface="Arial"/>
                <a:cs typeface="Arial"/>
              </a:rPr>
              <a:t> correlation between ‘first serve percentage’ and ‘first serve won’ in the tennis matches in Wimbledon.</a:t>
            </a:r>
          </a:p>
          <a:p>
            <a:pPr>
              <a:lnSpc>
                <a:spcPct val="100000"/>
              </a:lnSpc>
            </a:pPr>
            <a:endParaRPr lang="en-GB" sz="2000" b="0" dirty="0">
              <a:latin typeface="Arial"/>
              <a:cs typeface="Arial"/>
            </a:endParaRPr>
          </a:p>
          <a:p>
            <a:pPr>
              <a:lnSpc>
                <a:spcPct val="100000"/>
              </a:lnSpc>
            </a:pPr>
            <a:r>
              <a:rPr lang="en-GB" sz="2000" b="0" dirty="0">
                <a:solidFill>
                  <a:srgbClr val="FF0000"/>
                </a:solidFill>
                <a:latin typeface="Arial"/>
                <a:cs typeface="Arial"/>
              </a:rPr>
              <a:t>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a:t>
            </a:r>
            <a:r>
              <a:rPr lang="en-GB" sz="2000" b="0" dirty="0">
                <a:solidFill>
                  <a:srgbClr val="FF0000"/>
                </a:solidFill>
                <a:cs typeface="Arial"/>
              </a:rPr>
              <a:t>There </a:t>
            </a:r>
            <a:r>
              <a:rPr lang="en-GB" sz="2000" dirty="0">
                <a:solidFill>
                  <a:srgbClr val="FF0000"/>
                </a:solidFill>
                <a:cs typeface="Arial"/>
              </a:rPr>
              <a:t>is a </a:t>
            </a:r>
            <a:r>
              <a:rPr lang="en-GB" sz="2000" b="0" dirty="0">
                <a:solidFill>
                  <a:srgbClr val="FF0000"/>
                </a:solidFill>
                <a:cs typeface="Arial"/>
              </a:rPr>
              <a:t>correlation between ‘first </a:t>
            </a:r>
            <a:r>
              <a:rPr lang="en-GB" sz="2000" b="0">
                <a:solidFill>
                  <a:srgbClr val="FF0000"/>
                </a:solidFill>
                <a:cs typeface="Arial"/>
              </a:rPr>
              <a:t>serve percentage’ </a:t>
            </a:r>
            <a:r>
              <a:rPr lang="en-GB" sz="2000" b="0" dirty="0">
                <a:solidFill>
                  <a:srgbClr val="FF0000"/>
                </a:solidFill>
                <a:cs typeface="Arial"/>
              </a:rPr>
              <a:t>and ‘first serve won’ in the tennis matches in Wimbledon.</a:t>
            </a:r>
          </a:p>
          <a:p>
            <a:pPr>
              <a:lnSpc>
                <a:spcPct val="100000"/>
              </a:lnSpc>
            </a:pP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4494</TotalTime>
  <Words>796</Words>
  <Application>Microsoft Office PowerPoint</Application>
  <PresentationFormat>Widescreen</PresentationFormat>
  <Paragraphs>37</Paragraphs>
  <Slides>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Tutorial Presentation for Feedback Date: 26-11-2025 </vt:lpstr>
      <vt:lpstr>PowerPoint Presentation</vt:lpstr>
      <vt:lpstr>This dataset is interesting to us because it helps us analyze what part of the game is the biggest contributor in achieving a winning outcome in the sport of tennis and specifically in the Wimbledon arena.    Our  Independent variable is: First serve percentage- represented by  ‘FSP1’ in the dataset                    This  Independent variable datatype is Ratio  Our Dependent variable is First serve won – represented by ‘FSW1’ in the dataset                    This Dependent variable datatype is Ratio</vt:lpstr>
      <vt:lpstr>Template 1: Interval/Ordinal vs Interval/Ordinal: “Is there a correlation between  first serve percentage in the Wimbledon Men’s Tournament  2013  and  the number of first serve points won by players in their respective matches?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Sami Ahmad [Student-PECS]</cp:lastModifiedBy>
  <cp:revision>129</cp:revision>
  <dcterms:created xsi:type="dcterms:W3CDTF">2019-10-01T08:37:56Z</dcterms:created>
  <dcterms:modified xsi:type="dcterms:W3CDTF">2025-12-01T16:00:26Z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