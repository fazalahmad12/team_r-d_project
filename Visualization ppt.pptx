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1.xml" ContentType="application/vnd.openxmlformats-officedocument.presentationml.notesSlide+xml"/>
  <Override PartName="/ppt/ink/ink9.xml" ContentType="application/inkml+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handoutMasterIdLst>
    <p:handoutMasterId r:id="rId12"/>
  </p:handoutMasterIdLst>
  <p:sldIdLst>
    <p:sldId id="337" r:id="rId5"/>
    <p:sldId id="346" r:id="rId6"/>
    <p:sldId id="289" r:id="rId7"/>
    <p:sldId id="341" r:id="rId8"/>
    <p:sldId id="329" r:id="rId9"/>
    <p:sldId id="33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08706E-1E55-4BE3-9981-9E9409FA3F0E}" v="1" dt="2025-11-17T15:37:03.1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11/12/2025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1"/>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12694 9949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12694 9900 16383 0 0,'4'0'0'0'0,"7"0"0"0"0,5 0 0 0 0,5 0 0 0 0,3 0 0 0 0,2 0 0 0 0,1 0 0 0 0,1 0 0 0 0,-1 0 0 0 0,1-4 0 0 0,3-2 0 0 0,2 0 0 0 0,0 1 0 0 0,-2 2 0 0 0,-1 1 0 0 0,-6-4 0 0 0,-3 0 0 0 0,0 0 0 0 0,1 2 0 0 0,1 1 0 0 0,1 1 0 0 0,1 1 0 0 0,1 1 0 0 0,0 0 0 0 0,1 0 0 0 0,0 0 0 0 0,-1 1 0 0 0,1-1 0 0 0,0 0 0 0 0,-1 5 0 0 0,1 5 0 0 0,-1 6 0 0 0,1 1 0 0 0,-1-4 0 0 0,1-3 0 0 0,-6 1 0 0 0,0-2 0 0 0,0-1 0 0 0,1-3 0 0 0,1 2 0 0 0,1 5 0 0 0,2 0 0 0 0,0-2 0 0 0,4-3 0 0 0,3-6 0 0 0,0-5 0 0 0,-2 0 0 0 0,-1-1 0 0 0,-2 2 0 0 0,-4-4 0 0 0,-4-1 0 0 0,1 2 0 0 0,1 1 0 0 0,-4-3 0 0 0,1 0 0 0 0,-4-3 0 0 0,0 0 0 0 0,2 2 0 0 0,-1-2 0 0 0,0 1 0 0 0,3 3 0 0 0,2 1 0 0 0,2 3 0 0 0,1 1 0 0 0,-2-3 0 0 0,-2-1 0 0 0,6 1 0 0 0,2 1 0 0 0,-3-4 0 0 0,-2 1 0 0 0,-4-4 0 0 0,-1 0 0 0 0,-4-3 0 0 0,-4-3 0 0 0,-4-3 0 0 0,2 2 0 0 0,4 3 0 0 0,4 5 0 0 0,4 4 0 0 0,3 3 0 0 0,3-3 0 0 0,-4 5 0 0 0,-1 7 0 0 0,0 1 0 0 0,2 1 0 0 0,1-1 0 0 0,1-3 0 0 0,0 4 0 0 0,2 4 0 0 0,-5 5 0 0 0,-6 4 0 0 0,-1-2 0 0 0,1-4 0 0 0,7-4 0 0 0,5-4 0 0 0,1-4 0 0 0,-4 3 0 0 0,-2-1 0 0 0,-4 5 0 0 0,-2 0 0 0 0,-8-2 0 0 0,-5-7 0 0 0,-3-3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12595 10424 16383 0 0,'4'0'0'0'0,"7"0"0"0"0,5 0 0 0 0,5 0 0 0 0,12 0 0 0 0,5 0 0 0 0,0 0 0 0 0,-5 5 0 0 0,-5 1 0 0 0,-3 0 0 0 0,0-2 0 0 0,0 0 0 0 0,-1-2 0 0 0,2-1 0 0 0,-1-1 0 0 0,1 0 0 0 0,0 0 0 0 0,1 0 0 0 0,-1-1 0 0 0,5 1 0 0 0,2 0 0 0 0,-1 0 0 0 0,-1 0 0 0 0,-1 0 0 0 0,-2 0 0 0 0,0 0 0 0 0,-1 0 0 0 0,-1 0 0 0 0,5 0 0 0 0,1 0 0 0 0,0 0 0 0 0,-1 0 0 0 0,3 0 0 0 0,5-5 0 0 0,4-5 0 0 0,5-2 0 0 0,-2 2 0 0 0,1 2 0 0 0,-4 3 0 0 0,0 2 0 0 0,-3 1 0 0 0,-3 2 0 0 0,-4 0 0 0 0,-7-4 0 0 0,-4-2 0 0 0,-6-3 0 0 0,0-2 0 0 0,5 3 0 0 0,4 1 0 0 0,2 3 0 0 0,1 1 0 0 0,1 2 0 0 0,-1 1 0 0 0,-1 0 0 0 0,1 1 0 0 0,-1-1 0 0 0,-1 1 0 0 0,1-1 0 0 0,-1 0 0 0 0,1 0 0 0 0,-1 0 0 0 0,0 0 0 0 0,1 0 0 0 0,-1 0 0 0 0,1 0 0 0 0,-1 0 0 0 0,1 0 0 0 0,-1 0 0 0 0,1 0 0 0 0,-1 0 0 0 0,-4 5 0 0 0,-2 1 0 0 0,1-1 0 0 0,1 0 0 0 0,1-2 0 0 0,2-1 0 0 0,0-1 0 0 0,1 0 0 0 0,0-1 0 0 0,-3 4 0 0 0,-3 2 0 0 0,1-1 0 0 0,1 0 0 0 0,2-2 0 0 0,0 3 0 0 0,2 1 0 0 0,4-1 0 0 0,3-1 0 0 0,-1-2 0 0 0,-1-1 0 0 0,-5-1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4"/>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12628 19632 16383 0 0,'4'0'0'0'0,"7"-4"0"0"0,5-2 0 0 0,5 0 0 0 0,3 1 0 0 0,2 2 0 0 0,1 1 0 0 0,1 1 0 0 0,-1 1 0 0 0,5 0 0 0 0,1 0 0 0 0,4 5 0 0 0,1 5 0 0 0,-3 7 0 0 0,-6 4 0 0 0,0-2 0 0 0,0 1 0 0 0,0-3 0 0 0,-1-4 0 0 0,-1-5 0 0 0,0-3 0 0 0,0-3 0 0 0,-1-2 0 0 0,1 0 0 0 0,-1-1 0 0 0,0 0 0 0 0,5 0 0 0 0,2 1 0 0 0,-1-1 0 0 0,-1 1 0 0 0,-2 0 0 0 0,0 0 0 0 0,-2 0 0 0 0,0 0 0 0 0,0 0 0 0 0,-5-5 0 0 0,-2 0 0 0 0,0-1 0 0 0,2 1 0 0 0,1 6 0 0 0,-3 8 0 0 0,-1 2 0 0 0,2 3 0 0 0,0 4 0 0 0,-2 4 0 0 0,-5 2 0 0 0,0 2 0 0 0,-2 1 0 0 0,1-5 0 0 0,-2 0 0 0 0,-3-10 0 0 0,3-6 0 0 0,-2-9 0 0 0,-2-8 0 0 0,3-3 0 0 0,4-3 0 0 0,3 2 0 0 0,5 2 0 0 0,-3 0 0 0 0,1 2 0 0 0,1 2 0 0 0,1 4 0 0 0,2 2 0 0 0,2 1 0 0 0,0 2 0 0 0,0 0 0 0 0,1 5 0 0 0,-1 2 0 0 0,1-1 0 0 0,0-1 0 0 0,-1-2 0 0 0,1 0 0 0 0,0-2 0 0 0,-1-1 0 0 0,1 0 0 0 0,-1 0 0 0 0,0 0 0 0 0,-4-5 0 0 0,-1-1 0 0 0,0 0 0 0 0,0 1 0 0 0,3 2 0 0 0,0 1 0 0 0,1 1 0 0 0,1 0 0 0 0,1 1 0 0 0,-5-4 0 0 0,-1-2 0 0 0,4 1 0 0 0,-1-4 0 0 0,-1 0 0 0 0,0 1 0 0 0,1 2 0 0 0,1 3 0 0 0,1 1 0 0 0,0 1 0 0 0,0 1 0 0 0,0 0 0 0 0,-3 0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12562 20224 16383 0 0,'0'-4'0'0'0,"0"-7"0"0"0,4 0 0 0 0,6 0 0 0 0,2 8 0 0 0,3 8 0 0 0,3 13 0 0 0,4 16 0 0 0,2 7 0 0 0,-3 2 0 0 0,-5-3 0 0 0,4-4 0 0 0,7-2 0 0 0,13 0 0 0 0,4-4 0 0 0,-1-8 0 0 0,1-3 0 0 0,2 0 0 0 0,-2-3 0 0 0,-4-5 0 0 0,-9-9 0 0 0,-10-8 0 0 0,-8-9 0 0 0,-2-1 0 0 0,2 2 0 0 0,2 3 0 0 0,5 0 0 0 0,2 0 0 0 0,2 4 0 0 0,2 1 0 0 0,-4-1 0 0 0,-1 0 0 0 0,1 0 0 0 0,0 3 0 0 0,2 1 0 0 0,0 6 0 0 0,2 3 0 0 0,0-1 0 0 0,1 0 0 0 0,-1-1 0 0 0,1-2 0 0 0,0-1 0 0 0,-5-5 0 0 0,-6-1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14215 14347 16383 0 0,'0'0'0'0'0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14232 14175 16383 0 0,'9'0'0'0'0,"12"0"0"0"0,16 0 0 0 0,10 0 0 0 0,7 0 0 0 0,3 0 0 0 0,0 0 0 0 0,-4 0 0 0 0,-3-4 0 0 0,-5-2 0 0 0,-1 0 0 0 0,-4 1 0 0 0,-4 2 0 0 0,-3 1 0 0 0,-4 1 0 0 0,3 1 0 0 0,1 0 0 0 0,3 4 0 0 0,0 2 0 0 0,-1 0 0 0 0,-7 4 0 0 0,1-1 0 0 0,-1-1 0 0 0,1-2 0 0 0,-1-3 0 0 0,-1-1 0 0 0,0-1 0 0 0,0 0 0 0 0,0-2 0 0 0,-1 1 0 0 0,0-1 0 0 0,5 1 0 0 0,2-5 0 0 0,-1-1 0 0 0,-1 0 0 0 0,-2 2 0 0 0,0 1 0 0 0,-2 0 0 0 0,0 2 0 0 0,-5 6 0 0 0,-1 0 0 0 0,-5 6 0 0 0,-1 0 0 0 0,-2 2 0 0 0,1 5 0 0 0,-3 2 0 0 0,-2 4 0 0 0,2 1 0 0 0,12-3 0 0 0,24-1 0 0 0,19-4 0 0 0,20-1 0 0 0,4-2 0 0 0,1-4 0 0 0,-2 0 0 0 0,-7 0 0 0 0,-13-3 0 0 0,-9-3 0 0 0,-11-1 0 0 0,-4-2 0 0 0,-1 0 0 0 0,-3-1 0 0 0,0-1 0 0 0,-3 1 0 0 0,-2-1 0 0 0,-4 1 0 0 0,-2 0 0 0 0,-2 0 0 0 0,-1 0 0 0 0,-1 0 0 0 0,0 0 0 0 0,4 0 0 0 0,-3-5 0 0 0,-10-1 0 0 0,-8-4 0 0 0,-11-1 0 0 0,-4-2 0 0 0,-6 0 0 0 0,-5 3 0 0 0,-5 3 0 0 0,-3 3 0 0 0,-1 2 0 0 0,-1 1 0 0 0,-1 1 0 0 0,1 0 0 0 0,-5 1 0 0 0,-1 4 0 0 0,0 1 0 0 0,2 5 0 0 0,-3 4 0 0 0,-1 0 0 0 0,2-2 0 0 0,1 0 0 0 0,3-1 0 0 0,1-3 0 0 0,0 1 0 0 0,-3 4 0 0 0,-1 4 0 0 0,0-2 0 0 0,6 2 0 0 0,7 2 0 0 0,2-2 0 0 0,5-1 0 0 0,3 3 0 0 0,0-3 0 0 0,1 0 0 0 0,-8-2 0 0 0,-5-5 0 0 0,-3 2 0 0 0,-3-2 0 0 0,4 2 0 0 0,1-1 0 0 0,-5-3 0 0 0,-1-2 0 0 0,2 2 0 0 0,3 0 0 0 0,0-2 0 0 0,-1 3 0 0 0,0 0 0 0 0,3 3 0 0 0,6 4 0 0 0,5 3 0 0 0,5 4 0 0 0,2 1 0 0 0,-2-2 0 0 0,-5-5 0 0 0,0-11 0 0 0,-4-5 0 0 0,-3-4 0 0 0,-4-10 0 0 0,-3-3 0 0 0,-1 2 0 0 0,-1 3 0 0 0,-1 3 0 0 0,-5 3 0 0 0,-1 2 0 0 0,0 3 0 0 0,-3 0 0 0 0,0 0 0 0 0,2 1 0 0 0,2 0 0 0 0,1-1 0 0 0,3 0 0 0 0,1 1 0 0 0,-4-1 0 0 0,-2 0 0 0 0,2 0 0 0 0,0 4 0 0 0,2 2 0 0 0,0 0 0 0 0,2-2 0 0 0,0 4 0 0 0,1 0 0 0 0,4 3 0 0 0,2 0 0 0 0,-1 3 0 0 0,0-2 0 0 0,-3 7 0 0 0,0 0 0 0 0,-1 1 0 0 0,-1-3 0 0 0,-1-4 0 0 0,1 0 0 0 0,-1-2 0 0 0,5 2 0 0 0,1-2 0 0 0,0-2 0 0 0,-1-4 0 0 0,-1-1 0 0 0,-1-2 0 0 0,-2-2 0 0 0,0 0 0 0 0,0 0 0 0 0,-1-1 0 0 0,0 1 0 0 0,1-5 0 0 0,-1-2 0 0 0,0 2 0 0 0,5-5 0 0 0,2 1 0 0 0,-1 1 0 0 0,-5 3 0 0 0,-4-8 0 0 0,5-5 0 0 0,1-1 0 0 0,5 0 0 0 0,1 2 0 0 0,4 0 0 0 0,-1-2 0 0 0,3-2 0 0 0,-6 2 0 0 0,0 1 0 0 0,4-2 0 0 0,8 2 0 0 0,9 5 0 0 0,14 5 0 0 0,8-2 0 0 0,5 2 0 0 0,6 2 0 0 0,1 1 0 0 0,3 3 0 0 0,0 1 0 0 0,2-4 0 0 0,-2-1 0 0 0,2 1 0 0 0,2-4 0 0 0,-2 0 0 0 0,-3 2 0 0 0,0-3 0 0 0,3 0 0 0 0,-1 2 0 0 0,-3 3 0 0 0,-4 2 0 0 0,2 1 0 0 0,3 1 0 0 0,0 1 0 0 0,-3 0 0 0 0,-2 1 0 0 0,6-1 0 0 0,6 0 0 0 0,-1 1 0 0 0,-4-1 0 0 0,-4 0 0 0 0,1 0 0 0 0,-2 0 0 0 0,-2 0 0 0 0,-3 0 0 0 0,3 0 0 0 0,-1 0 0 0 0,0 4 0 0 0,-2 2 0 0 0,-2 0 0 0 0,3-1 0 0 0,1-2 0 0 0,4 3 0 0 0,0 2 0 0 0,3 2 0 0 0,-2 1 0 0 0,-1-2 0 0 0,-4-3 0 0 0,-2-2 0 0 0,-3-2 0 0 0,0-1 0 0 0,3-1 0 0 0,-4 5 0 0 0,-1 0 0 0 0,-1 0 0 0 0,4 0 0 0 0,2-2 0 0 0,0-2 0 0 0,-1 0 0 0 0,-1 0 0 0 0,-1-1 0 0 0,0 0 0 0 0,-1-1 0 0 0,-1 1 0 0 0,1 0 0 0 0,-1 0 0 0 0,0 0 0 0 0,1 0 0 0 0,-1 0 0 0 0,0 0 0 0 0,1 0 0 0 0,-1 0 0 0 0,1 0 0 0 0,-1 0 0 0 0,1 0 0 0 0,-1 0 0 0 0,0 0 0 0 0,1 0 0 0 0,-1 0 0 0 0,1 0 0 0 0,-1 0 0 0 0,1 0 0 0 0,-1 0 0 0 0,-4 0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4-10-20T11:05:09.94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21028 22734 16383 0 0,'5'0'0'0'0,"10"0"0"0"0,20 0 0 0 0,19 0 0 0 0,12 0 0 0 0,15 0 0 0 0,5 0 0 0 0,-2 0 0 0 0,-2 0 0 0 0,-6-5 0 0 0,-2-1 0 0 0,-10-4 0 0 0,-10 0 0 0 0,-6 1 0 0 0,-7 2 0 0 0,-1-2 0 0 0,-3 1 0 0 0,1 1 0 0 0,-1-2 0 0 0,2 0 0 0 0,4 1 0 0 0,-2 3 0 0 0,-3-3 0 0 0,2 1 0 0 0,-3-9 0 0 0,-2 0 0 0 0,-3 1 0 0 0,-2 4 0 0 0,-2 4 0 0 0,-1 3 0 0 0,-1 2 0 0 0,0 1 0 0 0,0 6 0 0 0,0 2 0 0 0,0-1 0 0 0,4 0 0 0 0,-2 2 0 0 0,-2 0 0 0 0,0 4 0 0 0,-1 3 0 0 0,0 0 0 0 0,-4 2 0 0 0,-1-3 0 0 0,-4 2 0 0 0,-1-2 0 0 0,3-4 0 0 0,2 1 0 0 0,2-1 0 0 0,2-3 0 0 0,1 3 0 0 0,11-1 0 0 0,2 2 0 0 0,1 0 0 0 0,1 3 0 0 0,4-2 0 0 0,-1-3 0 0 0,-4-2 0 0 0,1-3 0 0 0,2-2 0 0 0,-1-1 0 0 0,-4-1 0 0 0,-2-1 0 0 0,0 1 0 0 0,0-1 0 0 0,-2 1 0 0 0,3-1 0 0 0,-1 1 0 0 0,3 0 0 0 0,-1 0 0 0 0,-1-4 0 0 0,-4-2 0 0 0,3 0 0 0 0,0 1 0 0 0,-2-2 0 0 0,2-1 0 0 0,5-4 0 0 0,0 1 0 0 0,-3 2 0 0 0,-2 3 0 0 0,-8-3 0 0 0,-4 1 0 0 0,-1 2 0 0 0,0 1 0 0 0,1 2 0 0 0,0 1 0 0 0,-2-3 0 0 0,-2-1 0 0 0,2 1 0 0 0,1 1 0 0 0,1 1 0 0 0,1 1 0 0 0,-2-3 0 0 0,-2-2 0 0 0,1 2 0 0 0,1 0 0 0 0,1 2 0 0 0,2 2 0 0 0,0 0 0 0 0,2 0 0 0 0,-1 1 0 0 0,1 1 0 0 0,0-1 0 0 0,-5 0 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11-23T12:25:27.524"/>
    </inkml:context>
    <inkml:brush xml:id="br0">
      <inkml:brushProperty name="width" value="0.1" units="cm"/>
      <inkml:brushProperty name="height" value="0.1" units="cm"/>
      <inkml:brushProperty name="color" value="#E71224"/>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11/12/2025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6</a:t>
            </a:fld>
            <a:endParaRPr lang="en-GB"/>
          </a:p>
        </p:txBody>
      </p:sp>
    </p:spTree>
    <p:extLst>
      <p:ext uri="{BB962C8B-B14F-4D97-AF65-F5344CB8AC3E}">
        <p14:creationId xmlns:p14="http://schemas.microsoft.com/office/powerpoint/2010/main" val="26679849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customXml" Target="../ink/ink6.xml"/><Relationship Id="rId3" Type="http://schemas.openxmlformats.org/officeDocument/2006/relationships/customXml" Target="../ink/ink1.xml"/><Relationship Id="rId7" Type="http://schemas.openxmlformats.org/officeDocument/2006/relationships/customXml" Target="../ink/ink3.xml"/><Relationship Id="rId12" Type="http://schemas.openxmlformats.org/officeDocument/2006/relationships/image" Target="../media/image9.png"/><Relationship Id="rId17" Type="http://schemas.openxmlformats.org/officeDocument/2006/relationships/image" Target="../media/image11.png"/><Relationship Id="rId2" Type="http://schemas.openxmlformats.org/officeDocument/2006/relationships/image" Target="../media/image4.png"/><Relationship Id="rId16" Type="http://schemas.openxmlformats.org/officeDocument/2006/relationships/customXml" Target="../ink/ink8.xml"/><Relationship Id="rId1" Type="http://schemas.openxmlformats.org/officeDocument/2006/relationships/slideLayout" Target="../slideLayouts/slideLayout5.xml"/><Relationship Id="rId6" Type="http://schemas.openxmlformats.org/officeDocument/2006/relationships/image" Target="../media/image6.png"/><Relationship Id="rId11" Type="http://schemas.openxmlformats.org/officeDocument/2006/relationships/customXml" Target="../ink/ink5.xml"/><Relationship Id="rId5" Type="http://schemas.openxmlformats.org/officeDocument/2006/relationships/customXml" Target="../ink/ink2.xml"/><Relationship Id="rId15" Type="http://schemas.openxmlformats.org/officeDocument/2006/relationships/image" Target="../media/image10.png"/><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customXml" Target="../ink/ink4.xml"/><Relationship Id="rId14" Type="http://schemas.openxmlformats.org/officeDocument/2006/relationships/customXml" Target="../ink/ink7.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A29D8FC-E32A-5566-0930-02B99F5763A6}"/>
              </a:ext>
            </a:extLst>
          </p:cNvPr>
          <p:cNvSpPr>
            <a:spLocks noGrp="1"/>
          </p:cNvSpPr>
          <p:nvPr>
            <p:ph type="subTitle" idx="1"/>
          </p:nvPr>
        </p:nvSpPr>
        <p:spPr>
          <a:xfrm>
            <a:off x="883524" y="488743"/>
            <a:ext cx="10273911" cy="533111"/>
          </a:xfrm>
        </p:spPr>
        <p:txBody>
          <a:bodyPr/>
          <a:lstStyle/>
          <a:p>
            <a:r>
              <a:rPr lang="en-GB"/>
              <a:t>Instructions for Visualization and Analysis Demos</a:t>
            </a:r>
          </a:p>
        </p:txBody>
      </p:sp>
      <p:sp>
        <p:nvSpPr>
          <p:cNvPr id="4" name="Slide Number Placeholder 3">
            <a:extLst>
              <a:ext uri="{FF2B5EF4-FFF2-40B4-BE49-F238E27FC236}">
                <a16:creationId xmlns:a16="http://schemas.microsoft.com/office/drawing/2014/main" id="{E143B824-C7FA-8427-0A8B-E8B5D7787B83}"/>
              </a:ext>
            </a:extLst>
          </p:cNvPr>
          <p:cNvSpPr>
            <a:spLocks noGrp="1"/>
          </p:cNvSpPr>
          <p:nvPr>
            <p:ph type="sldNum" sz="quarter" idx="12"/>
          </p:nvPr>
        </p:nvSpPr>
        <p:spPr>
          <a:xfrm>
            <a:off x="10616400" y="483548"/>
            <a:ext cx="622800" cy="230832"/>
          </a:xfrm>
        </p:spPr>
        <p:txBody>
          <a:bodyPr/>
          <a:lstStyle/>
          <a:p>
            <a:fld id="{E4D355CA-84B7-41B1-B164-8BB439CC7C6B}" type="slidenum">
              <a:rPr lang="en-GB" smtClean="0"/>
              <a:pPr/>
              <a:t>1</a:t>
            </a:fld>
            <a:endParaRPr lang="en-GB"/>
          </a:p>
        </p:txBody>
      </p:sp>
      <p:sp>
        <p:nvSpPr>
          <p:cNvPr id="6" name="TextBox 5">
            <a:extLst>
              <a:ext uri="{FF2B5EF4-FFF2-40B4-BE49-F238E27FC236}">
                <a16:creationId xmlns:a16="http://schemas.microsoft.com/office/drawing/2014/main" id="{6DD9461E-8553-F8C3-E23F-FB71330E931F}"/>
              </a:ext>
            </a:extLst>
          </p:cNvPr>
          <p:cNvSpPr txBox="1"/>
          <p:nvPr/>
        </p:nvSpPr>
        <p:spPr>
          <a:xfrm>
            <a:off x="801759" y="974929"/>
            <a:ext cx="10437439" cy="4524315"/>
          </a:xfrm>
          <a:prstGeom prst="rect">
            <a:avLst/>
          </a:prstGeom>
          <a:noFill/>
        </p:spPr>
        <p:txBody>
          <a:bodyPr wrap="square" lIns="91440" tIns="45720" rIns="91440" bIns="45720" rtlCol="0" anchor="t">
            <a:spAutoFit/>
          </a:bodyPr>
          <a:lstStyle/>
          <a:p>
            <a:r>
              <a:rPr lang="en-GB"/>
              <a:t>You have 3 minutes to present – be ready to share your screen, </a:t>
            </a:r>
            <a:r>
              <a:rPr lang="en-GB" b="1"/>
              <a:t>practice first</a:t>
            </a:r>
            <a:r>
              <a:rPr lang="en-GB"/>
              <a:t>. We can only offer you one opportunity to present.  Present your slides in “Slide Show” mode. Presentations will take place during the module Tutorial slots (see Canvas Announcements for links to join Tutorials via Teams).</a:t>
            </a:r>
          </a:p>
          <a:p>
            <a:endParaRPr lang="en-GB"/>
          </a:p>
          <a:p>
            <a:r>
              <a:rPr lang="en-GB"/>
              <a:t>The next few slides give you all the alternatives for how to present your Visualizations. You will select only </a:t>
            </a:r>
            <a:r>
              <a:rPr lang="en-GB" b="1"/>
              <a:t>one </a:t>
            </a:r>
            <a:r>
              <a:rPr lang="en-GB"/>
              <a:t>as fits your RQ. Before presenting DELETE all text (and instructions) that you do not use (including this slide).  You can then enlarge your selection, so it is clearly visible on the slide.</a:t>
            </a:r>
            <a:endParaRPr lang="en-GB">
              <a:cs typeface="Arial"/>
            </a:endParaRPr>
          </a:p>
          <a:p>
            <a:endParaRPr lang="en-GB"/>
          </a:p>
          <a:p>
            <a:r>
              <a:rPr lang="en-GB"/>
              <a:t>Appointment slots will appear on Canvas soon (calendar-7com1079-24).  Sign up early.  When space runs out, we cannot issue any further slots for this week.  If you do not turn up for your slot you will </a:t>
            </a:r>
            <a:r>
              <a:rPr lang="en-GB" i="1"/>
              <a:t>not</a:t>
            </a:r>
            <a:r>
              <a:rPr lang="en-GB"/>
              <a:t> be given another opportunity. Ideally, all the group members should attend but select one person to present. DO NOT SIGN UP unless one of your group can attend and present. You will not be graded on this.</a:t>
            </a:r>
            <a:endParaRPr lang="en-GB">
              <a:cs typeface="Arial"/>
            </a:endParaRPr>
          </a:p>
          <a:p>
            <a:endParaRPr lang="en-GB"/>
          </a:p>
          <a:p>
            <a:r>
              <a:rPr lang="en-GB"/>
              <a:t>We look forward to giving you feedback.  If your group is not presenting, still attend the tutorial as the feedback will help you too.</a:t>
            </a:r>
            <a:endParaRPr lang="en-GB">
              <a:cs typeface="Arial"/>
            </a:endParaRPr>
          </a:p>
        </p:txBody>
      </p:sp>
      <p:sp>
        <p:nvSpPr>
          <p:cNvPr id="3" name="TextBox 2">
            <a:extLst>
              <a:ext uri="{FF2B5EF4-FFF2-40B4-BE49-F238E27FC236}">
                <a16:creationId xmlns:a16="http://schemas.microsoft.com/office/drawing/2014/main" id="{D6C5DB9A-CB20-AA49-378E-33B58D8775BE}"/>
              </a:ext>
            </a:extLst>
          </p:cNvPr>
          <p:cNvSpPr txBox="1"/>
          <p:nvPr/>
        </p:nvSpPr>
        <p:spPr>
          <a:xfrm>
            <a:off x="4037611" y="5300020"/>
            <a:ext cx="7588264" cy="1200329"/>
          </a:xfrm>
          <a:prstGeom prst="rect">
            <a:avLst/>
          </a:prstGeom>
          <a:noFill/>
        </p:spPr>
        <p:txBody>
          <a:bodyPr wrap="square" lIns="91440" tIns="45720" rIns="91440" bIns="45720" rtlCol="0" anchor="t">
            <a:spAutoFit/>
          </a:bodyPr>
          <a:lstStyle/>
          <a:p>
            <a:r>
              <a:rPr lang="en-GB" i="1" baseline="30000"/>
              <a:t>1</a:t>
            </a:r>
            <a:r>
              <a:rPr lang="en-GB" i="1"/>
              <a:t>At this point we assume you are using your allocated datasets (see group-dataset allocations on Slack Announcements).  Any changes to the Kaggle/</a:t>
            </a:r>
            <a:r>
              <a:rPr lang="en-GB" i="1" err="1"/>
              <a:t>Data.world</a:t>
            </a:r>
            <a:r>
              <a:rPr lang="en-GB" i="1"/>
              <a:t> csv/</a:t>
            </a:r>
            <a:r>
              <a:rPr lang="en-GB" i="1" err="1"/>
              <a:t>xlxs</a:t>
            </a:r>
            <a:r>
              <a:rPr lang="en-GB" i="1"/>
              <a:t> file you make such as merges, grouping, or size reduction must be done via an R script, not manually, not in excel.</a:t>
            </a:r>
            <a:endParaRPr lang="en-GB"/>
          </a:p>
        </p:txBody>
      </p:sp>
    </p:spTree>
    <p:extLst>
      <p:ext uri="{BB962C8B-B14F-4D97-AF65-F5344CB8AC3E}">
        <p14:creationId xmlns:p14="http://schemas.microsoft.com/office/powerpoint/2010/main" val="384748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51078-2006-2E40-AF72-55CCEEE6A460}"/>
              </a:ext>
            </a:extLst>
          </p:cNvPr>
          <p:cNvSpPr>
            <a:spLocks noGrp="1"/>
          </p:cNvSpPr>
          <p:nvPr>
            <p:ph type="title"/>
          </p:nvPr>
        </p:nvSpPr>
        <p:spPr>
          <a:xfrm>
            <a:off x="1208160" y="395003"/>
            <a:ext cx="10030680" cy="2159640"/>
          </a:xfrm>
        </p:spPr>
        <p:txBody>
          <a:bodyPr>
            <a:normAutofit/>
          </a:bodyPr>
          <a:lstStyle/>
          <a:p>
            <a:r>
              <a:rPr lang="en-US" sz="2700"/>
              <a:t>How your RQ + distribution of data (Histogram) leads to a statistical test. Visualization requirements highlighted in yellow</a:t>
            </a:r>
            <a:r>
              <a:rPr lang="en-US"/>
              <a:t>.</a:t>
            </a:r>
          </a:p>
        </p:txBody>
      </p:sp>
      <p:pic>
        <p:nvPicPr>
          <p:cNvPr id="9" name="Content Placeholder 8">
            <a:extLst>
              <a:ext uri="{FF2B5EF4-FFF2-40B4-BE49-F238E27FC236}">
                <a16:creationId xmlns:a16="http://schemas.microsoft.com/office/drawing/2014/main" id="{1D590E03-8ECA-5BE6-CB34-C7AF162BF6B6}"/>
              </a:ext>
            </a:extLst>
          </p:cNvPr>
          <p:cNvPicPr>
            <a:picLocks noGrp="1" noChangeAspect="1"/>
          </p:cNvPicPr>
          <p:nvPr>
            <p:ph idx="1"/>
          </p:nvPr>
        </p:nvPicPr>
        <p:blipFill>
          <a:blip r:embed="rId2"/>
          <a:stretch>
            <a:fillRect/>
          </a:stretch>
        </p:blipFill>
        <p:spPr>
          <a:xfrm>
            <a:off x="2078182" y="1703508"/>
            <a:ext cx="8035636" cy="3744829"/>
          </a:xfrm>
        </p:spPr>
      </p:pic>
      <p:sp>
        <p:nvSpPr>
          <p:cNvPr id="10" name="TextBox 9">
            <a:extLst>
              <a:ext uri="{FF2B5EF4-FFF2-40B4-BE49-F238E27FC236}">
                <a16:creationId xmlns:a16="http://schemas.microsoft.com/office/drawing/2014/main" id="{67B8FAFF-9EFC-82FC-C196-779A7136586A}"/>
              </a:ext>
            </a:extLst>
          </p:cNvPr>
          <p:cNvSpPr txBox="1"/>
          <p:nvPr/>
        </p:nvSpPr>
        <p:spPr>
          <a:xfrm>
            <a:off x="3479470" y="5852160"/>
            <a:ext cx="657996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Figure: Decision tree – how Research Questions relate to Visualizations and Statistical Test.</a:t>
            </a:r>
          </a:p>
        </p:txBody>
      </p:sp>
      <p:sp>
        <p:nvSpPr>
          <p:cNvPr id="11" name="TextBox 10">
            <a:extLst>
              <a:ext uri="{FF2B5EF4-FFF2-40B4-BE49-F238E27FC236}">
                <a16:creationId xmlns:a16="http://schemas.microsoft.com/office/drawing/2014/main" id="{0EC63721-1431-2325-B04C-2CC649E44C04}"/>
              </a:ext>
            </a:extLst>
          </p:cNvPr>
          <p:cNvSpPr txBox="1"/>
          <p:nvPr/>
        </p:nvSpPr>
        <p:spPr>
          <a:xfrm>
            <a:off x="2698865" y="2119746"/>
            <a:ext cx="188560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Histogram &amp; Scatterplots</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3924CA5D-07A4-AA61-3FAE-BB5F24476ED6}"/>
                  </a:ext>
                </a:extLst>
              </p14:cNvPr>
              <p14:cNvContentPartPr/>
              <p14:nvPr/>
            </p14:nvContentPartPr>
            <p14:xfrm>
              <a:off x="2855862" y="2301478"/>
              <a:ext cx="7620" cy="7620"/>
            </p14:xfrm>
          </p:contentPart>
        </mc:Choice>
        <mc:Fallback xmlns="">
          <p:pic>
            <p:nvPicPr>
              <p:cNvPr id="12" name="Ink 11">
                <a:extLst>
                  <a:ext uri="{FF2B5EF4-FFF2-40B4-BE49-F238E27FC236}">
                    <a16:creationId xmlns:a16="http://schemas.microsoft.com/office/drawing/2014/main" id="{3924CA5D-07A4-AA61-3FAE-BB5F24476ED6}"/>
                  </a:ext>
                </a:extLst>
              </p:cNvPr>
              <p:cNvPicPr/>
              <p:nvPr/>
            </p:nvPicPr>
            <p:blipFill>
              <a:blip r:embed="rId4"/>
              <a:stretch>
                <a:fillRect/>
              </a:stretch>
            </p:blipFill>
            <p:spPr>
              <a:xfrm>
                <a:off x="1712862" y="15478"/>
                <a:ext cx="2286000" cy="4572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 name="Ink 12">
                <a:extLst>
                  <a:ext uri="{FF2B5EF4-FFF2-40B4-BE49-F238E27FC236}">
                    <a16:creationId xmlns:a16="http://schemas.microsoft.com/office/drawing/2014/main" id="{42B4E2DA-3545-4F26-910D-A1F1FE72A47D}"/>
                  </a:ext>
                </a:extLst>
              </p14:cNvPr>
              <p14:cNvContentPartPr/>
              <p14:nvPr/>
            </p14:nvContentPartPr>
            <p14:xfrm>
              <a:off x="2855863" y="2231290"/>
              <a:ext cx="822540" cy="106054"/>
            </p14:xfrm>
          </p:contentPart>
        </mc:Choice>
        <mc:Fallback xmlns="">
          <p:pic>
            <p:nvPicPr>
              <p:cNvPr id="13" name="Ink 12">
                <a:extLst>
                  <a:ext uri="{FF2B5EF4-FFF2-40B4-BE49-F238E27FC236}">
                    <a16:creationId xmlns:a16="http://schemas.microsoft.com/office/drawing/2014/main" id="{42B4E2DA-3545-4F26-910D-A1F1FE72A47D}"/>
                  </a:ext>
                </a:extLst>
              </p:cNvPr>
              <p:cNvPicPr/>
              <p:nvPr/>
            </p:nvPicPr>
            <p:blipFill>
              <a:blip r:embed="rId6"/>
              <a:stretch>
                <a:fillRect/>
              </a:stretch>
            </p:blipFill>
            <p:spPr>
              <a:xfrm>
                <a:off x="2801891" y="2123803"/>
                <a:ext cx="930125" cy="32067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4" name="Ink 13">
                <a:extLst>
                  <a:ext uri="{FF2B5EF4-FFF2-40B4-BE49-F238E27FC236}">
                    <a16:creationId xmlns:a16="http://schemas.microsoft.com/office/drawing/2014/main" id="{C28B2B8B-32E6-E1DC-2824-43836CE9592D}"/>
                  </a:ext>
                </a:extLst>
              </p14:cNvPr>
              <p14:cNvContentPartPr/>
              <p14:nvPr/>
            </p14:nvContentPartPr>
            <p14:xfrm>
              <a:off x="2827288" y="2415047"/>
              <a:ext cx="912316" cy="39245"/>
            </p14:xfrm>
          </p:contentPart>
        </mc:Choice>
        <mc:Fallback xmlns="">
          <p:pic>
            <p:nvPicPr>
              <p:cNvPr id="14" name="Ink 13">
                <a:extLst>
                  <a:ext uri="{FF2B5EF4-FFF2-40B4-BE49-F238E27FC236}">
                    <a16:creationId xmlns:a16="http://schemas.microsoft.com/office/drawing/2014/main" id="{C28B2B8B-32E6-E1DC-2824-43836CE9592D}"/>
                  </a:ext>
                </a:extLst>
              </p:cNvPr>
              <p:cNvPicPr/>
              <p:nvPr/>
            </p:nvPicPr>
            <p:blipFill>
              <a:blip r:embed="rId8"/>
              <a:stretch>
                <a:fillRect/>
              </a:stretch>
            </p:blipFill>
            <p:spPr>
              <a:xfrm>
                <a:off x="2773305" y="2308015"/>
                <a:ext cx="1019923" cy="252952"/>
              </a:xfrm>
              <a:prstGeom prst="rect">
                <a:avLst/>
              </a:prstGeom>
            </p:spPr>
          </p:pic>
        </mc:Fallback>
      </mc:AlternateContent>
      <p:sp>
        <p:nvSpPr>
          <p:cNvPr id="15" name="TextBox 14">
            <a:extLst>
              <a:ext uri="{FF2B5EF4-FFF2-40B4-BE49-F238E27FC236}">
                <a16:creationId xmlns:a16="http://schemas.microsoft.com/office/drawing/2014/main" id="{5B0C8B1B-7E1B-7A4E-48E5-1AC79152D134}"/>
              </a:ext>
            </a:extLst>
          </p:cNvPr>
          <p:cNvSpPr txBox="1"/>
          <p:nvPr/>
        </p:nvSpPr>
        <p:spPr>
          <a:xfrm>
            <a:off x="2942697" y="3249126"/>
            <a:ext cx="1283623"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Histogram and Boxplots</a:t>
            </a:r>
          </a:p>
        </p:txBody>
      </p:sp>
      <p:sp>
        <p:nvSpPr>
          <p:cNvPr id="18" name="TextBox 17">
            <a:extLst>
              <a:ext uri="{FF2B5EF4-FFF2-40B4-BE49-F238E27FC236}">
                <a16:creationId xmlns:a16="http://schemas.microsoft.com/office/drawing/2014/main" id="{9FF5E8DC-C47C-03F2-66AD-3721C5D6A78C}"/>
              </a:ext>
            </a:extLst>
          </p:cNvPr>
          <p:cNvSpPr txBox="1"/>
          <p:nvPr/>
        </p:nvSpPr>
        <p:spPr>
          <a:xfrm>
            <a:off x="3343620" y="4850346"/>
            <a:ext cx="1366404"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Stacked bar chart (no histogram)</a:t>
            </a:r>
          </a:p>
        </p:txBody>
      </p:sp>
      <mc:AlternateContent xmlns:mc="http://schemas.openxmlformats.org/markup-compatibility/2006" xmlns:p14="http://schemas.microsoft.com/office/powerpoint/2010/main">
        <mc:Choice Requires="p14">
          <p:contentPart p14:bwMode="auto" r:id="rId9">
            <p14:nvContentPartPr>
              <p14:cNvPr id="23" name="Ink 22">
                <a:extLst>
                  <a:ext uri="{FF2B5EF4-FFF2-40B4-BE49-F238E27FC236}">
                    <a16:creationId xmlns:a16="http://schemas.microsoft.com/office/drawing/2014/main" id="{8E710C2C-67A8-8083-7A21-4B4E128F5D61}"/>
                  </a:ext>
                </a:extLst>
              </p14:cNvPr>
              <p14:cNvContentPartPr/>
              <p14:nvPr/>
            </p14:nvContentPartPr>
            <p14:xfrm>
              <a:off x="3343620" y="4971248"/>
              <a:ext cx="836960" cy="117475"/>
            </p14:xfrm>
          </p:contentPart>
        </mc:Choice>
        <mc:Fallback xmlns="">
          <p:pic>
            <p:nvPicPr>
              <p:cNvPr id="23" name="Ink 22">
                <a:extLst>
                  <a:ext uri="{FF2B5EF4-FFF2-40B4-BE49-F238E27FC236}">
                    <a16:creationId xmlns:a16="http://schemas.microsoft.com/office/drawing/2014/main" id="{8E710C2C-67A8-8083-7A21-4B4E128F5D61}"/>
                  </a:ext>
                </a:extLst>
              </p:cNvPr>
              <p:cNvPicPr/>
              <p:nvPr/>
            </p:nvPicPr>
            <p:blipFill>
              <a:blip r:embed="rId10"/>
              <a:stretch>
                <a:fillRect/>
              </a:stretch>
            </p:blipFill>
            <p:spPr>
              <a:xfrm>
                <a:off x="3289646" y="4863473"/>
                <a:ext cx="944549" cy="332666"/>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9D5AB4C3-0CDD-8D40-FE3C-0D26691C3E41}"/>
                  </a:ext>
                </a:extLst>
              </p14:cNvPr>
              <p14:cNvContentPartPr/>
              <p14:nvPr/>
            </p14:nvContentPartPr>
            <p14:xfrm>
              <a:off x="3495097" y="5326544"/>
              <a:ext cx="366611" cy="145562"/>
            </p14:xfrm>
          </p:contentPart>
        </mc:Choice>
        <mc:Fallback xmlns="">
          <p:pic>
            <p:nvPicPr>
              <p:cNvPr id="24" name="Ink 23">
                <a:extLst>
                  <a:ext uri="{FF2B5EF4-FFF2-40B4-BE49-F238E27FC236}">
                    <a16:creationId xmlns:a16="http://schemas.microsoft.com/office/drawing/2014/main" id="{9D5AB4C3-0CDD-8D40-FE3C-0D26691C3E41}"/>
                  </a:ext>
                </a:extLst>
              </p:cNvPr>
              <p:cNvPicPr/>
              <p:nvPr/>
            </p:nvPicPr>
            <p:blipFill>
              <a:blip r:embed="rId12"/>
              <a:stretch>
                <a:fillRect/>
              </a:stretch>
            </p:blipFill>
            <p:spPr>
              <a:xfrm>
                <a:off x="3441131" y="5218720"/>
                <a:ext cx="474184" cy="36085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2D295DB2-15F6-8261-D98C-9BB0D8E48C45}"/>
                  </a:ext>
                </a:extLst>
              </p14:cNvPr>
              <p14:cNvContentPartPr/>
              <p14:nvPr/>
            </p14:nvContentPartPr>
            <p14:xfrm>
              <a:off x="2836812" y="3568303"/>
              <a:ext cx="7620" cy="7620"/>
            </p14:xfrm>
          </p:contentPart>
        </mc:Choice>
        <mc:Fallback xmlns="">
          <p:pic>
            <p:nvPicPr>
              <p:cNvPr id="25" name="Ink 24">
                <a:extLst>
                  <a:ext uri="{FF2B5EF4-FFF2-40B4-BE49-F238E27FC236}">
                    <a16:creationId xmlns:a16="http://schemas.microsoft.com/office/drawing/2014/main" id="{2D295DB2-15F6-8261-D98C-9BB0D8E48C45}"/>
                  </a:ext>
                </a:extLst>
              </p:cNvPr>
              <p:cNvPicPr/>
              <p:nvPr/>
            </p:nvPicPr>
            <p:blipFill>
              <a:blip r:embed="rId4"/>
              <a:stretch>
                <a:fillRect/>
              </a:stretch>
            </p:blipFill>
            <p:spPr>
              <a:xfrm>
                <a:off x="1693812" y="1282303"/>
                <a:ext cx="2286000" cy="4572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6" name="Ink 25">
                <a:extLst>
                  <a:ext uri="{FF2B5EF4-FFF2-40B4-BE49-F238E27FC236}">
                    <a16:creationId xmlns:a16="http://schemas.microsoft.com/office/drawing/2014/main" id="{BF419222-61F1-A278-036B-6186A7DBD041}"/>
                  </a:ext>
                </a:extLst>
              </p14:cNvPr>
              <p14:cNvContentPartPr/>
              <p14:nvPr/>
            </p14:nvContentPartPr>
            <p14:xfrm>
              <a:off x="2942697" y="3323665"/>
              <a:ext cx="997984" cy="334667"/>
            </p14:xfrm>
          </p:contentPart>
        </mc:Choice>
        <mc:Fallback xmlns="">
          <p:pic>
            <p:nvPicPr>
              <p:cNvPr id="26" name="Ink 25">
                <a:extLst>
                  <a:ext uri="{FF2B5EF4-FFF2-40B4-BE49-F238E27FC236}">
                    <a16:creationId xmlns:a16="http://schemas.microsoft.com/office/drawing/2014/main" id="{BF419222-61F1-A278-036B-6186A7DBD041}"/>
                  </a:ext>
                </a:extLst>
              </p:cNvPr>
              <p:cNvPicPr/>
              <p:nvPr/>
            </p:nvPicPr>
            <p:blipFill>
              <a:blip r:embed="rId15"/>
              <a:stretch>
                <a:fillRect/>
              </a:stretch>
            </p:blipFill>
            <p:spPr>
              <a:xfrm>
                <a:off x="2888713" y="3215708"/>
                <a:ext cx="1105592" cy="550221"/>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8" name="Ink 27">
                <a:extLst>
                  <a:ext uri="{FF2B5EF4-FFF2-40B4-BE49-F238E27FC236}">
                    <a16:creationId xmlns:a16="http://schemas.microsoft.com/office/drawing/2014/main" id="{58E89214-72D4-68F8-89D3-DB2438E58609}"/>
                  </a:ext>
                </a:extLst>
              </p14:cNvPr>
              <p14:cNvContentPartPr/>
              <p14:nvPr/>
            </p14:nvContentPartPr>
            <p14:xfrm>
              <a:off x="3495097" y="6237656"/>
              <a:ext cx="1265620" cy="97352"/>
            </p14:xfrm>
          </p:contentPart>
        </mc:Choice>
        <mc:Fallback xmlns="">
          <p:pic>
            <p:nvPicPr>
              <p:cNvPr id="28" name="Ink 27">
                <a:extLst>
                  <a:ext uri="{FF2B5EF4-FFF2-40B4-BE49-F238E27FC236}">
                    <a16:creationId xmlns:a16="http://schemas.microsoft.com/office/drawing/2014/main" id="{58E89214-72D4-68F8-89D3-DB2438E58609}"/>
                  </a:ext>
                </a:extLst>
              </p:cNvPr>
              <p:cNvPicPr/>
              <p:nvPr/>
            </p:nvPicPr>
            <p:blipFill>
              <a:blip r:embed="rId17"/>
              <a:stretch>
                <a:fillRect/>
              </a:stretch>
            </p:blipFill>
            <p:spPr>
              <a:xfrm>
                <a:off x="3441118" y="6130282"/>
                <a:ext cx="1373217" cy="311741"/>
              </a:xfrm>
              <a:prstGeom prst="rect">
                <a:avLst/>
              </a:prstGeom>
            </p:spPr>
          </p:pic>
        </mc:Fallback>
      </mc:AlternateContent>
    </p:spTree>
    <p:extLst>
      <p:ext uri="{BB962C8B-B14F-4D97-AF65-F5344CB8AC3E}">
        <p14:creationId xmlns:p14="http://schemas.microsoft.com/office/powerpoint/2010/main" val="889904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a:t>Visualization and Analysis – </a:t>
            </a:r>
            <a:br>
              <a:rPr lang="en-US"/>
            </a:br>
            <a:r>
              <a:rPr lang="en-US" sz="4000"/>
              <a:t>Tutorial Presentation for Feedback</a:t>
            </a:r>
            <a:br>
              <a:rPr lang="en-US" sz="4000"/>
            </a:br>
            <a:r>
              <a:rPr lang="en-US" sz="2200"/>
              <a:t>Date: </a:t>
            </a:r>
            <a:br>
              <a:rPr lang="en-US" sz="8000"/>
            </a:br>
            <a:endParaRPr lang="en-US"/>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a:t>Group Id:                                                           Name of Student Presenting:</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dirty="0"/>
              <a:t>7COM1079-2025  Student Group No:                    Names of Student Attendees  (all group should attend to get feedback): </a:t>
            </a:r>
          </a:p>
        </p:txBody>
      </p:sp>
      <p:sp>
        <p:nvSpPr>
          <p:cNvPr id="5" name="Slide Number Placeholder 4">
            <a:extLst>
              <a:ext uri="{FF2B5EF4-FFF2-40B4-BE49-F238E27FC236}">
                <a16:creationId xmlns:a16="http://schemas.microsoft.com/office/drawing/2014/main" id="{6B584311-58F1-BD4D-8FED-50D72C3DED34}"/>
              </a:ext>
            </a:extLst>
          </p:cNvPr>
          <p:cNvSpPr>
            <a:spLocks noGrp="1"/>
          </p:cNvSpPr>
          <p:nvPr>
            <p:ph type="sldNum" sz="quarter" idx="12"/>
          </p:nvPr>
        </p:nvSpPr>
        <p:spPr/>
        <p:txBody>
          <a:bodyPr/>
          <a:lstStyle/>
          <a:p>
            <a:fld id="{E4D355CA-84B7-41B1-B164-8BB439CC7C6B}" type="slidenum">
              <a:rPr lang="en-GB" smtClean="0"/>
              <a:pPr/>
              <a:t>3</a:t>
            </a:fld>
            <a:endParaRPr lang="en-GB"/>
          </a:p>
        </p:txBody>
      </p:sp>
    </p:spTree>
    <p:extLst>
      <p:ext uri="{BB962C8B-B14F-4D97-AF65-F5344CB8AC3E}">
        <p14:creationId xmlns:p14="http://schemas.microsoft.com/office/powerpoint/2010/main" val="4148532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E31262B9-84B0-C1A5-543C-8FA0F2459C07}"/>
              </a:ext>
            </a:extLst>
          </p:cNvPr>
          <p:cNvSpPr>
            <a:spLocks noGrp="1"/>
          </p:cNvSpPr>
          <p:nvPr>
            <p:ph type="subTitle" idx="1"/>
          </p:nvPr>
        </p:nvSpPr>
        <p:spPr>
          <a:xfrm>
            <a:off x="942200" y="1355611"/>
            <a:ext cx="7200000" cy="360000"/>
          </a:xfrm>
        </p:spPr>
        <p:txBody>
          <a:bodyPr/>
          <a:lstStyle/>
          <a:p>
            <a:r>
              <a:rPr lang="en-US"/>
              <a:t>Part 1: VISUALISATION</a:t>
            </a:r>
            <a:endParaRPr lang="en-GB"/>
          </a:p>
        </p:txBody>
      </p:sp>
      <p:sp>
        <p:nvSpPr>
          <p:cNvPr id="3" name="Footer Placeholder 2">
            <a:extLst>
              <a:ext uri="{FF2B5EF4-FFF2-40B4-BE49-F238E27FC236}">
                <a16:creationId xmlns:a16="http://schemas.microsoft.com/office/drawing/2014/main" id="{AA8750A5-C5AD-CEC8-7CD5-C4412264CC71}"/>
              </a:ext>
            </a:extLst>
          </p:cNvPr>
          <p:cNvSpPr>
            <a:spLocks noGrp="1"/>
          </p:cNvSpPr>
          <p:nvPr>
            <p:ph type="ftr" sz="quarter" idx="11"/>
          </p:nvPr>
        </p:nvSpPr>
        <p:spPr/>
        <p:txBody>
          <a:bodyPr/>
          <a:lstStyle/>
          <a:p>
            <a:r>
              <a:rPr lang="en-GB"/>
              <a:t>PRESENTATION TITLE (ADD VIA INSERT, HEADER &amp; FOOTER)</a:t>
            </a:r>
          </a:p>
        </p:txBody>
      </p:sp>
      <p:sp>
        <p:nvSpPr>
          <p:cNvPr id="4" name="Slide Number Placeholder 3">
            <a:extLst>
              <a:ext uri="{FF2B5EF4-FFF2-40B4-BE49-F238E27FC236}">
                <a16:creationId xmlns:a16="http://schemas.microsoft.com/office/drawing/2014/main" id="{2B0B5058-8385-6382-3B48-5ADE78EDFDAD}"/>
              </a:ext>
            </a:extLst>
          </p:cNvPr>
          <p:cNvSpPr>
            <a:spLocks noGrp="1"/>
          </p:cNvSpPr>
          <p:nvPr>
            <p:ph type="sldNum" sz="quarter" idx="12"/>
          </p:nvPr>
        </p:nvSpPr>
        <p:spPr/>
        <p:txBody>
          <a:bodyPr/>
          <a:lstStyle/>
          <a:p>
            <a:fld id="{E4D355CA-84B7-41B1-B164-8BB439CC7C6B}" type="slidenum">
              <a:rPr lang="en-GB" smtClean="0"/>
              <a:pPr/>
              <a:t>4</a:t>
            </a:fld>
            <a:endParaRPr lang="en-GB"/>
          </a:p>
        </p:txBody>
      </p:sp>
      <p:sp>
        <p:nvSpPr>
          <p:cNvPr id="5" name="Title 4">
            <a:extLst>
              <a:ext uri="{FF2B5EF4-FFF2-40B4-BE49-F238E27FC236}">
                <a16:creationId xmlns:a16="http://schemas.microsoft.com/office/drawing/2014/main" id="{A5F0AC96-5BAE-FDAC-4EAC-17779A2B0645}"/>
              </a:ext>
            </a:extLst>
          </p:cNvPr>
          <p:cNvSpPr>
            <a:spLocks noGrp="1"/>
          </p:cNvSpPr>
          <p:nvPr>
            <p:ph type="ctrTitle"/>
          </p:nvPr>
        </p:nvSpPr>
        <p:spPr>
          <a:xfrm>
            <a:off x="942201" y="1715611"/>
            <a:ext cx="10683742" cy="2359086"/>
          </a:xfrm>
        </p:spPr>
        <p:txBody>
          <a:bodyPr>
            <a:noAutofit/>
          </a:bodyPr>
          <a:lstStyle/>
          <a:p>
            <a:pPr>
              <a:lnSpc>
                <a:spcPts val="6000"/>
              </a:lnSpc>
            </a:pPr>
            <a:r>
              <a:rPr lang="en-US" sz="3000" dirty="0">
                <a:solidFill>
                  <a:srgbClr val="FF0000"/>
                </a:solidFill>
              </a:rPr>
              <a:t>If you have not defined your Research Question (RQ) yet, please do not attempt to present Visualizations and/or analyses of your data.  Go to Canvas, announcements on RQ presentations, and use the PowerPoint template provided for you to present your RQ.  You can use the time slot to present your RQ instead of the </a:t>
            </a:r>
            <a:r>
              <a:rPr lang="en-US" sz="3000" dirty="0" err="1">
                <a:solidFill>
                  <a:srgbClr val="FF0000"/>
                </a:solidFill>
              </a:rPr>
              <a:t>Visualisation</a:t>
            </a:r>
            <a:r>
              <a:rPr lang="en-US" sz="3000" dirty="0">
                <a:solidFill>
                  <a:srgbClr val="FF0000"/>
                </a:solidFill>
              </a:rPr>
              <a:t>.</a:t>
            </a:r>
            <a:endParaRPr lang="en-GB" sz="3000" dirty="0">
              <a:solidFill>
                <a:srgbClr val="FF0000"/>
              </a:solidFill>
            </a:endParaRPr>
          </a:p>
        </p:txBody>
      </p:sp>
    </p:spTree>
    <p:extLst>
      <p:ext uri="{BB962C8B-B14F-4D97-AF65-F5344CB8AC3E}">
        <p14:creationId xmlns:p14="http://schemas.microsoft.com/office/powerpoint/2010/main" val="23391447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080637"/>
            <a:ext cx="10110240" cy="588024"/>
          </a:xfrm>
        </p:spPr>
        <p:txBody>
          <a:bodyPr/>
          <a:lstStyle/>
          <a:p>
            <a:r>
              <a:rPr lang="en-US" sz="2400" b="0" dirty="0">
                <a:latin typeface="Calibri" panose="020F0502020204030204" pitchFamily="34" charset="0"/>
                <a:cs typeface="Calibri" panose="020F0502020204030204" pitchFamily="34" charset="0"/>
              </a:rPr>
              <a:t>We are using the dataset</a:t>
            </a:r>
            <a:r>
              <a:rPr lang="en-US" sz="2400" b="0" dirty="0">
                <a:solidFill>
                  <a:srgbClr val="FF0000"/>
                </a:solidFill>
                <a:latin typeface="Calibri" panose="020F0502020204030204" pitchFamily="34" charset="0"/>
                <a:cs typeface="Calibri" panose="020F0502020204030204" pitchFamily="34" charset="0"/>
              </a:rPr>
              <a:t>   (DS 015,  Wimbledon men 2013.csv) </a:t>
            </a:r>
            <a:r>
              <a:rPr lang="en-US" sz="2400" b="0" dirty="0">
                <a:solidFill>
                  <a:schemeClr val="tx1"/>
                </a:solidFill>
                <a:latin typeface="Calibri" panose="020F0502020204030204" pitchFamily="34" charset="0"/>
                <a:cs typeface="Calibri" panose="020F0502020204030204" pitchFamily="34" charset="0"/>
              </a:rPr>
              <a:t> to answer our Research Question  </a:t>
            </a:r>
            <a:r>
              <a:rPr lang="en-US" sz="2400" b="0" dirty="0">
                <a:solidFill>
                  <a:srgbClr val="FF0000"/>
                </a:solidFill>
                <a:latin typeface="Calibri" panose="020F0502020204030204" pitchFamily="34" charset="0"/>
                <a:cs typeface="Calibri" panose="020F0502020204030204" pitchFamily="34" charset="0"/>
              </a:rPr>
              <a:t>“ (Is there a correlation between the points won in second serve and the points won in first serve ”</a:t>
            </a:r>
            <a:r>
              <a:rPr lang="en-US" sz="2400" b="0" dirty="0">
                <a:solidFill>
                  <a:schemeClr val="tx1"/>
                </a:solidFill>
                <a:latin typeface="Calibri" panose="020F0502020204030204" pitchFamily="34" charset="0"/>
                <a:cs typeface="Calibri" panose="020F0502020204030204" pitchFamily="34" charset="0"/>
              </a:rPr>
              <a:t> </a:t>
            </a:r>
            <a:br>
              <a:rPr lang="en-US" sz="2400" b="0" dirty="0">
                <a:solidFill>
                  <a:srgbClr val="FF0000"/>
                </a:solidFill>
                <a:latin typeface="Calibri" panose="020F0502020204030204" pitchFamily="34" charset="0"/>
                <a:cs typeface="Calibri" panose="020F0502020204030204" pitchFamily="34" charset="0"/>
              </a:rPr>
            </a:br>
            <a:endParaRPr lang="en-US" sz="2400" dirty="0">
              <a:solidFill>
                <a:schemeClr val="tx1"/>
              </a:solidFill>
              <a:latin typeface="Calibri" panose="020F0502020204030204" pitchFamily="34" charset="0"/>
              <a:cs typeface="Calibri" panose="020F0502020204030204" pitchFamily="34" charset="0"/>
            </a:endParaRP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dirty="0"/>
              <a:t>7COM1079-2025  Student Group No:                    Names of Student Group Attendees: </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p:txBody>
          <a:bodyPr/>
          <a:lstStyle/>
          <a:p>
            <a:fld id="{E4D355CA-84B7-41B1-B164-8BB439CC7C6B}" type="slidenum">
              <a:rPr lang="en-GB" smtClean="0"/>
              <a:pPr/>
              <a:t>5</a:t>
            </a:fld>
            <a:endParaRPr lang="en-GB"/>
          </a:p>
        </p:txBody>
      </p:sp>
      <mc:AlternateContent xmlns:mc="http://schemas.openxmlformats.org/markup-compatibility/2006" xmlns:p14="http://schemas.microsoft.com/office/powerpoint/2010/main">
        <mc:Choice Requires="p14">
          <p:contentPart p14:bwMode="auto" r:id="rId3">
            <p14:nvContentPartPr>
              <p14:cNvPr id="26" name="Ink 25">
                <a:extLst>
                  <a:ext uri="{FF2B5EF4-FFF2-40B4-BE49-F238E27FC236}">
                    <a16:creationId xmlns:a16="http://schemas.microsoft.com/office/drawing/2014/main" id="{F4A00DAC-98CC-1D9A-E4A4-B99AD3FBA824}"/>
                  </a:ext>
                </a:extLst>
              </p14:cNvPr>
              <p14:cNvContentPartPr/>
              <p14:nvPr/>
            </p14:nvContentPartPr>
            <p14:xfrm>
              <a:off x="11548041" y="2705494"/>
              <a:ext cx="360" cy="360"/>
            </p14:xfrm>
          </p:contentPart>
        </mc:Choice>
        <mc:Fallback xmlns="">
          <p:pic>
            <p:nvPicPr>
              <p:cNvPr id="26" name="Ink 25">
                <a:extLst>
                  <a:ext uri="{FF2B5EF4-FFF2-40B4-BE49-F238E27FC236}">
                    <a16:creationId xmlns:a16="http://schemas.microsoft.com/office/drawing/2014/main" id="{F4A00DAC-98CC-1D9A-E4A4-B99AD3FBA824}"/>
                  </a:ext>
                </a:extLst>
              </p:cNvPr>
              <p:cNvPicPr/>
              <p:nvPr/>
            </p:nvPicPr>
            <p:blipFill>
              <a:blip r:embed="rId4"/>
              <a:stretch>
                <a:fillRect/>
              </a:stretch>
            </p:blipFill>
            <p:spPr>
              <a:xfrm>
                <a:off x="11530041" y="2687494"/>
                <a:ext cx="36000" cy="36000"/>
              </a:xfrm>
              <a:prstGeom prst="rect">
                <a:avLst/>
              </a:prstGeom>
            </p:spPr>
          </p:pic>
        </mc:Fallback>
      </mc:AlternateContent>
      <p:pic>
        <p:nvPicPr>
          <p:cNvPr id="5" name="Picture 4" descr="A group of small colored symbols&#10;&#10;AI-generated content may be incorrect.">
            <a:extLst>
              <a:ext uri="{FF2B5EF4-FFF2-40B4-BE49-F238E27FC236}">
                <a16:creationId xmlns:a16="http://schemas.microsoft.com/office/drawing/2014/main" id="{1D9A5430-2DB2-85E4-9241-6290EC49A89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3085" y="2399795"/>
            <a:ext cx="11833846" cy="1751581"/>
          </a:xfrm>
          <a:prstGeom prst="rect">
            <a:avLst/>
          </a:prstGeom>
        </p:spPr>
      </p:pic>
      <p:sp>
        <p:nvSpPr>
          <p:cNvPr id="6" name="TextBox 5">
            <a:extLst>
              <a:ext uri="{FF2B5EF4-FFF2-40B4-BE49-F238E27FC236}">
                <a16:creationId xmlns:a16="http://schemas.microsoft.com/office/drawing/2014/main" id="{D033211A-7EB1-515B-8AD3-B40C808F54C7}"/>
              </a:ext>
            </a:extLst>
          </p:cNvPr>
          <p:cNvSpPr txBox="1"/>
          <p:nvPr/>
        </p:nvSpPr>
        <p:spPr>
          <a:xfrm>
            <a:off x="965288" y="4398264"/>
            <a:ext cx="6684264" cy="646331"/>
          </a:xfrm>
          <a:prstGeom prst="rect">
            <a:avLst/>
          </a:prstGeom>
          <a:noFill/>
        </p:spPr>
        <p:txBody>
          <a:bodyPr wrap="square" rtlCol="0">
            <a:spAutoFit/>
          </a:bodyPr>
          <a:lstStyle/>
          <a:p>
            <a:r>
              <a:rPr lang="en-US" dirty="0"/>
              <a:t>Independent Variable is </a:t>
            </a:r>
            <a:r>
              <a:rPr lang="en-US" b="1" dirty="0"/>
              <a:t>First serve won</a:t>
            </a:r>
          </a:p>
          <a:p>
            <a:r>
              <a:rPr lang="en-US" dirty="0"/>
              <a:t>Dependent Variable is </a:t>
            </a:r>
            <a:r>
              <a:rPr lang="en-US" b="1" dirty="0"/>
              <a:t>Second Serve won</a:t>
            </a:r>
            <a:endParaRPr lang="en-PK" dirty="0"/>
          </a:p>
        </p:txBody>
      </p:sp>
    </p:spTree>
    <p:extLst>
      <p:ext uri="{BB962C8B-B14F-4D97-AF65-F5344CB8AC3E}">
        <p14:creationId xmlns:p14="http://schemas.microsoft.com/office/powerpoint/2010/main" val="1718004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7COM1079-2022  Student Group No:  ?????</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p:txBody>
          <a:bodyPr/>
          <a:lstStyle/>
          <a:p>
            <a:fld id="{E4D355CA-84B7-41B1-B164-8BB439CC7C6B}" type="slidenum">
              <a:rPr lang="en-GB" smtClean="0"/>
              <a:pPr/>
              <a:t>6</a:t>
            </a:fld>
            <a:endParaRPr lang="en-GB"/>
          </a:p>
        </p:txBody>
      </p:sp>
      <p:sp>
        <p:nvSpPr>
          <p:cNvPr id="7" name="TextBox 6">
            <a:extLst>
              <a:ext uri="{FF2B5EF4-FFF2-40B4-BE49-F238E27FC236}">
                <a16:creationId xmlns:a16="http://schemas.microsoft.com/office/drawing/2014/main" id="{F7FEA660-7B39-BC91-3B96-7298CCF66DE1}"/>
              </a:ext>
            </a:extLst>
          </p:cNvPr>
          <p:cNvSpPr txBox="1"/>
          <p:nvPr/>
        </p:nvSpPr>
        <p:spPr>
          <a:xfrm>
            <a:off x="498685" y="6287311"/>
            <a:ext cx="11440040" cy="369332"/>
          </a:xfrm>
          <a:prstGeom prst="rect">
            <a:avLst/>
          </a:prstGeom>
          <a:solidFill>
            <a:schemeClr val="bg1">
              <a:lumMod val="95000"/>
            </a:schemeClr>
          </a:solidFill>
        </p:spPr>
        <p:txBody>
          <a:bodyPr wrap="square" rtlCol="0">
            <a:spAutoFit/>
          </a:bodyPr>
          <a:lstStyle/>
          <a:p>
            <a:r>
              <a:rPr lang="en-GB" b="1" dirty="0">
                <a:latin typeface="Calibri" panose="020F0502020204030204" pitchFamily="34" charset="0"/>
                <a:cs typeface="Calibri" panose="020F0502020204030204" pitchFamily="34" charset="0"/>
              </a:rPr>
              <a:t>Correlation</a:t>
            </a:r>
            <a:r>
              <a:rPr lang="en-GB" dirty="0"/>
              <a:t> </a:t>
            </a:r>
            <a:r>
              <a:rPr lang="en-IE" dirty="0">
                <a:latin typeface="Calibri" panose="020F0502020204030204" pitchFamily="34" charset="0"/>
                <a:cs typeface="Times New Roman" panose="02020603050405020304" pitchFamily="18" charset="0"/>
              </a:rPr>
              <a:t>analyses</a:t>
            </a:r>
            <a:r>
              <a:rPr lang="en-IE" sz="1800" dirty="0">
                <a:effectLst/>
                <a:latin typeface="Calibri" panose="020F0502020204030204" pitchFamily="34" charset="0"/>
                <a:ea typeface="Calibri" panose="020F0502020204030204" pitchFamily="34" charset="0"/>
                <a:cs typeface="Times New Roman" panose="02020603050405020304" pitchFamily="18" charset="0"/>
              </a:rPr>
              <a:t> how an </a:t>
            </a:r>
            <a:r>
              <a:rPr lang="en-IE"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interval/ratio </a:t>
            </a:r>
            <a:r>
              <a:rPr lang="en-IE" sz="18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dependent var </a:t>
            </a:r>
            <a:r>
              <a:rPr lang="en-IE" dirty="0">
                <a:latin typeface="Calibri" panose="020F0502020204030204" pitchFamily="34" charset="0"/>
                <a:ea typeface="Calibri" panose="020F0502020204030204" pitchFamily="34" charset="0"/>
                <a:cs typeface="Times New Roman" panose="02020603050405020304" pitchFamily="18" charset="0"/>
              </a:rPr>
              <a:t>correlates </a:t>
            </a:r>
            <a:r>
              <a:rPr lang="en-IE" sz="1800" dirty="0">
                <a:effectLst/>
                <a:latin typeface="Calibri" panose="020F0502020204030204" pitchFamily="34" charset="0"/>
                <a:ea typeface="Calibri" panose="020F0502020204030204" pitchFamily="34" charset="0"/>
                <a:cs typeface="Times New Roman" panose="02020603050405020304" pitchFamily="18" charset="0"/>
              </a:rPr>
              <a:t>to an </a:t>
            </a:r>
            <a:r>
              <a:rPr lang="en-IE" sz="18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ordinal/interval/ratio </a:t>
            </a:r>
            <a:r>
              <a:rPr lang="en-IE" sz="1800" dirty="0">
                <a:solidFill>
                  <a:srgbClr val="00B050"/>
                </a:solidFill>
                <a:effectLst/>
                <a:latin typeface="Calibri" panose="020F0502020204030204" pitchFamily="34" charset="0"/>
                <a:ea typeface="Calibri" panose="020F0502020204030204" pitchFamily="34" charset="0"/>
                <a:cs typeface="Times New Roman" panose="02020603050405020304" pitchFamily="18" charset="0"/>
              </a:rPr>
              <a:t>independent variable</a:t>
            </a:r>
            <a:endParaRPr lang="en-GB" dirty="0"/>
          </a:p>
        </p:txBody>
      </p:sp>
      <p:sp>
        <p:nvSpPr>
          <p:cNvPr id="8" name="Subtitle 7">
            <a:extLst>
              <a:ext uri="{FF2B5EF4-FFF2-40B4-BE49-F238E27FC236}">
                <a16:creationId xmlns:a16="http://schemas.microsoft.com/office/drawing/2014/main" id="{08296624-D625-8A51-63F8-EC461F283B3B}"/>
              </a:ext>
            </a:extLst>
          </p:cNvPr>
          <p:cNvSpPr>
            <a:spLocks noGrp="1"/>
          </p:cNvSpPr>
          <p:nvPr>
            <p:ph type="subTitle" idx="1"/>
          </p:nvPr>
        </p:nvSpPr>
        <p:spPr>
          <a:xfrm>
            <a:off x="952800" y="716650"/>
            <a:ext cx="10273911" cy="668224"/>
          </a:xfrm>
          <a:solidFill>
            <a:schemeClr val="bg2"/>
          </a:solidFill>
        </p:spPr>
        <p:txBody>
          <a:bodyPr/>
          <a:lstStyle/>
          <a:p>
            <a:pPr>
              <a:lnSpc>
                <a:spcPct val="100000"/>
              </a:lnSpc>
            </a:pPr>
            <a:r>
              <a:rPr lang="en-GB" b="0" dirty="0">
                <a:solidFill>
                  <a:srgbClr val="FF0000"/>
                </a:solidFill>
              </a:rPr>
              <a:t>1. Where your research question asks about </a:t>
            </a:r>
            <a:r>
              <a:rPr lang="en-GB" dirty="0"/>
              <a:t>Correlation</a:t>
            </a:r>
            <a:r>
              <a:rPr lang="en-GB" b="0" dirty="0"/>
              <a:t>: Include two </a:t>
            </a:r>
            <a:r>
              <a:rPr lang="en-GB" b="0" i="1" dirty="0"/>
              <a:t>visualizations</a:t>
            </a:r>
          </a:p>
        </p:txBody>
      </p:sp>
      <p:pic>
        <p:nvPicPr>
          <p:cNvPr id="9" name="Picture 8" descr="A diagram of a graph&#10;&#10;AI-generated content may be incorrect.">
            <a:extLst>
              <a:ext uri="{FF2B5EF4-FFF2-40B4-BE49-F238E27FC236}">
                <a16:creationId xmlns:a16="http://schemas.microsoft.com/office/drawing/2014/main" id="{07F60DA2-D790-7A89-83F7-F73742A633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86008" y="1976202"/>
            <a:ext cx="2930392" cy="3948089"/>
          </a:xfrm>
          <a:prstGeom prst="rect">
            <a:avLst/>
          </a:prstGeom>
        </p:spPr>
      </p:pic>
      <p:pic>
        <p:nvPicPr>
          <p:cNvPr id="11" name="Picture 10" descr="A graph with black dots and red line">
            <a:extLst>
              <a:ext uri="{FF2B5EF4-FFF2-40B4-BE49-F238E27FC236}">
                <a16:creationId xmlns:a16="http://schemas.microsoft.com/office/drawing/2014/main" id="{DAB454E4-C1E5-54FD-AF02-01AE4B0C76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41649" y="1993357"/>
            <a:ext cx="2587752" cy="3685471"/>
          </a:xfrm>
          <a:prstGeom prst="rect">
            <a:avLst/>
          </a:prstGeom>
        </p:spPr>
      </p:pic>
    </p:spTree>
    <p:extLst>
      <p:ext uri="{BB962C8B-B14F-4D97-AF65-F5344CB8AC3E}">
        <p14:creationId xmlns:p14="http://schemas.microsoft.com/office/powerpoint/2010/main" val="32494612"/>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1C521DD-2673-4EE6-BB9B-DC5C3320FFB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92</TotalTime>
  <Words>573</Words>
  <Application>Microsoft Office PowerPoint</Application>
  <PresentationFormat>Widescreen</PresentationFormat>
  <Paragraphs>34</Paragraphs>
  <Slides>6</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Herts Theme</vt:lpstr>
      <vt:lpstr>PowerPoint Presentation</vt:lpstr>
      <vt:lpstr>How your RQ + distribution of data (Histogram) leads to a statistical test. Visualization requirements highlighted in yellow.</vt:lpstr>
      <vt:lpstr>Visualization and Analysis –  Tutorial Presentation for Feedback Date:  </vt:lpstr>
      <vt:lpstr>If you have not defined your Research Question (RQ) yet, please do not attempt to present Visualizations and/or analyses of your data.  Go to Canvas, announcements on RQ presentations, and use the PowerPoint template provided for you to present your RQ.  You can use the time slot to present your RQ instead of the Visualisation.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Sami Ahmad [Student-PECS]</cp:lastModifiedBy>
  <cp:revision>7</cp:revision>
  <dcterms:created xsi:type="dcterms:W3CDTF">2019-10-01T08:37:56Z</dcterms:created>
  <dcterms:modified xsi:type="dcterms:W3CDTF">2025-12-11T22:59:33Z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